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475720" cy="7315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2400" b="1">
                <a:solidFill>
                  <a:srgbClr val="7C3AED"/>
                </a:solidFill>
              </a:rPr>
              <a:t>FortiGate Firewall AI Agent — Architecture</a:t>
            </a:r>
          </a:p>
          <a:p>
            <a:r>
              <a:rPr sz="1050">
                <a:solidFill>
                  <a:srgbClr val="1F2A37"/>
                </a:solidFill>
              </a:rPr>
              <a:t>Local, privacy-preserving LLM assistant — live FortiGate data + built-in docs, no cloud keys.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331720" y="1188720"/>
            <a:ext cx="2331720" cy="731520"/>
          </a:xfrm>
          <a:prstGeom prst="roundRect">
            <a:avLst/>
          </a:prstGeom>
          <a:solidFill>
            <a:srgbClr val="16A34A"/>
          </a:solidFill>
          <a:ln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25400" rIns="25400">
            <a:noAutofit/>
          </a:bodyPr>
          <a:lstStyle/>
          <a:p>
            <a:pPr algn="ctr"/>
            <a:r>
              <a:rPr b="1" sz="1250">
                <a:solidFill>
                  <a:srgbClr val="FFFFFF"/>
                </a:solidFill>
              </a:rPr>
              <a:t>Ollama  (local LLM)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OLLAMA_BASE_URL · emits TOOL: calls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2697480"/>
            <a:ext cx="1554480" cy="868680"/>
          </a:xfrm>
          <a:prstGeom prst="roundRect">
            <a:avLst/>
          </a:prstGeom>
          <a:solidFill>
            <a:srgbClr val="555F6B"/>
          </a:solidFill>
          <a:ln>
            <a:solidFill>
              <a:srgbClr val="555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25400" rIns="25400">
            <a:noAutofit/>
          </a:bodyPr>
          <a:lstStyle/>
          <a:p>
            <a:pPr algn="ctr"/>
            <a:r>
              <a:rPr b="1" sz="1250">
                <a:solidFill>
                  <a:srgbClr val="FFFFFF"/>
                </a:solidFill>
              </a:rPr>
              <a:t>USER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terminal Q &amp; 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31720" y="2697480"/>
            <a:ext cx="2331720" cy="868680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25400" rIns="25400">
            <a:noAutofit/>
          </a:bodyPr>
          <a:lstStyle/>
          <a:p>
            <a:pPr algn="ctr"/>
            <a:r>
              <a:rPr b="1" sz="1250">
                <a:solidFill>
                  <a:srgbClr val="FFFFFF"/>
                </a:solidFill>
              </a:rPr>
              <a:t>langchain_firewall_agent.py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Orchestrator · prompt + tool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83480" y="2697480"/>
            <a:ext cx="2103120" cy="868680"/>
          </a:xfrm>
          <a:prstGeom prst="roundRect">
            <a:avLst/>
          </a:prstGeom>
          <a:solidFill>
            <a:srgbClr val="2563EB"/>
          </a:solidFill>
          <a:ln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25400" rIns="25400">
            <a:noAutofit/>
          </a:bodyPr>
          <a:lstStyle/>
          <a:p>
            <a:pPr algn="ctr"/>
            <a:r>
              <a:rPr b="1" sz="1250">
                <a:solidFill>
                  <a:srgbClr val="FFFFFF"/>
                </a:solidFill>
              </a:rPr>
              <a:t>fortigate_api_wrapper.py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Adapter · maps tools, formats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2697480"/>
            <a:ext cx="1828800" cy="868680"/>
          </a:xfrm>
          <a:prstGeom prst="roundRect">
            <a:avLst/>
          </a:prstGeom>
          <a:solidFill>
            <a:srgbClr val="0E9488"/>
          </a:solidFill>
          <a:ln>
            <a:solidFill>
              <a:srgbClr val="0E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25400" rIns="25400">
            <a:noAutofit/>
          </a:bodyPr>
          <a:lstStyle/>
          <a:p>
            <a:pPr algn="ctr"/>
            <a:r>
              <a:rPr b="1" sz="1250">
                <a:solidFill>
                  <a:srgbClr val="FFFFFF"/>
                </a:solidFill>
              </a:rPr>
              <a:t>fortigate.py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REST client (httpx)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64040" y="2697480"/>
            <a:ext cx="2286000" cy="868680"/>
          </a:xfrm>
          <a:prstGeom prst="roundRect">
            <a:avLst/>
          </a:prstGeom>
          <a:solidFill>
            <a:srgbClr val="DC2A26"/>
          </a:solidFill>
          <a:ln>
            <a:solidFill>
              <a:srgbClr val="DC2A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25400" rIns="25400">
            <a:noAutofit/>
          </a:bodyPr>
          <a:lstStyle/>
          <a:p>
            <a:pPr algn="ctr"/>
            <a:r>
              <a:rPr b="1" sz="1250">
                <a:solidFill>
                  <a:srgbClr val="FFFFFF"/>
                </a:solidFill>
              </a:rPr>
              <a:t>FortiGate firewall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FortiOS /api/v2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4069080"/>
            <a:ext cx="2331720" cy="731520"/>
          </a:xfrm>
          <a:prstGeom prst="roundRect">
            <a:avLst/>
          </a:prstGeom>
          <a:solidFill>
            <a:srgbClr val="CA8A04"/>
          </a:solidFill>
          <a:ln>
            <a:solidFill>
              <a:srgbClr val="CA8A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25400" rIns="25400">
            <a:noAutofit/>
          </a:bodyPr>
          <a:lstStyle/>
          <a:p>
            <a:pPr algn="ctr"/>
            <a:r>
              <a:rPr b="1" sz="1250">
                <a:solidFill>
                  <a:srgbClr val="FFFFFF"/>
                </a:solidFill>
              </a:rPr>
              <a:t>pdf_loader.py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Built-in docs → prompt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83480" y="4069080"/>
            <a:ext cx="2103120" cy="731520"/>
          </a:xfrm>
          <a:prstGeom prst="roundRect">
            <a:avLst/>
          </a:prstGeom>
          <a:solidFill>
            <a:srgbClr val="6B7280"/>
          </a:solidFill>
          <a:ln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 lIns="25400" rIns="25400">
            <a:noAutofit/>
          </a:bodyPr>
          <a:lstStyle/>
          <a:p>
            <a:pPr algn="ctr"/>
            <a:r>
              <a:rPr b="1" sz="1250">
                <a:solidFill>
                  <a:srgbClr val="FFFFFF"/>
                </a:solidFill>
              </a:rPr>
              <a:t>.env  (config)</a:t>
            </a:r>
          </a:p>
          <a:p>
            <a:pPr algn="ctr"/>
            <a:r>
              <a:rPr sz="850">
                <a:solidFill>
                  <a:srgbClr val="FFFFFF"/>
                </a:solidFill>
              </a:rPr>
              <a:t>host · token · log source · Ollama URL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65960" y="3131820"/>
            <a:ext cx="365760" cy="0"/>
          </a:xfrm>
          <a:prstGeom prst="line">
            <a:avLst/>
          </a:prstGeom>
          <a:ln w="25400">
            <a:solidFill>
              <a:srgbClr val="94A3B8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3493008" y="1920240"/>
            <a:ext cx="0" cy="777240"/>
          </a:xfrm>
          <a:prstGeom prst="line">
            <a:avLst/>
          </a:prstGeom>
          <a:ln w="25400">
            <a:solidFill>
              <a:srgbClr val="94A3B8"/>
            </a:solidFill>
            <a:tailEnd type="triangle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15768" y="2162556"/>
            <a:ext cx="1554480" cy="23774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800" i="1">
                <a:solidFill>
                  <a:srgbClr val="1F2A37"/>
                </a:solidFill>
              </a:rPr>
              <a:t>prompt / answer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663440" y="3131820"/>
            <a:ext cx="320040" cy="0"/>
          </a:xfrm>
          <a:prstGeom prst="line">
            <a:avLst/>
          </a:prstGeom>
          <a:ln w="2540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046220" y="2985516"/>
            <a:ext cx="1554480" cy="23774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800" i="1">
                <a:solidFill>
                  <a:srgbClr val="1F2A37"/>
                </a:solidFill>
              </a:rPr>
              <a:t>TOOL: call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086600" y="3131820"/>
            <a:ext cx="274320" cy="0"/>
          </a:xfrm>
          <a:prstGeom prst="line">
            <a:avLst/>
          </a:prstGeom>
          <a:ln w="2540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46520" y="2985516"/>
            <a:ext cx="1554480" cy="23774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800" i="1">
                <a:solidFill>
                  <a:srgbClr val="1F2A37"/>
                </a:solidFill>
              </a:rPr>
              <a:t>method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189720" y="3131820"/>
            <a:ext cx="274320" cy="0"/>
          </a:xfrm>
          <a:prstGeom prst="line">
            <a:avLst/>
          </a:prstGeom>
          <a:ln w="25400">
            <a:solidFill>
              <a:srgbClr val="94A3B8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549640" y="2985516"/>
            <a:ext cx="1554480" cy="23774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800" i="1">
                <a:solidFill>
                  <a:srgbClr val="1F2A37"/>
                </a:solidFill>
              </a:rPr>
              <a:t>HTTPS + token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3493008" y="3566160"/>
            <a:ext cx="0" cy="502920"/>
          </a:xfrm>
          <a:prstGeom prst="line">
            <a:avLst/>
          </a:prstGeom>
          <a:ln w="25400">
            <a:solidFill>
              <a:srgbClr val="CA8A04"/>
            </a:solidFill>
            <a:tailEnd type="triangle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715768" y="3671316"/>
            <a:ext cx="1554480" cy="23774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800" i="1">
                <a:solidFill>
                  <a:srgbClr val="1F2A37"/>
                </a:solidFill>
              </a:rPr>
              <a:t>docs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035040" y="3566160"/>
            <a:ext cx="0" cy="502920"/>
          </a:xfrm>
          <a:prstGeom prst="line">
            <a:avLst/>
          </a:prstGeom>
          <a:ln w="25400">
            <a:solidFill>
              <a:srgbClr val="6B7280"/>
            </a:solidFill>
            <a:tailEnd type="triangle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57800" y="3671316"/>
            <a:ext cx="1554480" cy="23774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 algn="ctr"/>
            <a:r>
              <a:rPr sz="800" i="1">
                <a:solidFill>
                  <a:srgbClr val="1F2A37"/>
                </a:solidFill>
              </a:rPr>
              <a:t>config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" y="4983480"/>
            <a:ext cx="1138428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F2A37"/>
                </a:solidFill>
              </a:rPr>
              <a:t>Traffic flow:  Question → prompt (system + docs) → LLM emits TOOL: call → wrapper → client → HTTPS to FortiGate → JSON back → results accumulate, LLM re-prompted (≤3×) → answer + Recommendation + [PDF].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5532120"/>
            <a:ext cx="11384280" cy="11887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A37"/>
                </a:solidFill>
              </a:rPr>
              <a:t>•  Text-based tool protocol (model prints TOOL: name(args), parsed by regex) — model-agnostic.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A37"/>
                </a:solidFill>
              </a:rPr>
              <a:t>•  Context accumulates across iterations; real API errors surfaced (403/404), not swallowed.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1F2A37"/>
                </a:solidFill>
              </a:rPr>
              <a:t>•  Log tools auto-fall-back disk → memory → forticloud; all settings via .env.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